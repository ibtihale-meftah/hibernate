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28"/>
  </p:notesMasterIdLst>
  <p:sldIdLst>
    <p:sldId id="257" r:id="rId2"/>
    <p:sldId id="258" r:id="rId3"/>
    <p:sldId id="279" r:id="rId4"/>
    <p:sldId id="278" r:id="rId5"/>
    <p:sldId id="280" r:id="rId6"/>
    <p:sldId id="282" r:id="rId7"/>
    <p:sldId id="281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Raleway" pitchFamily="2" charset="0"/>
      <p:regular r:id="rId29"/>
      <p:bold r:id="rId30"/>
      <p:italic r:id="rId31"/>
      <p:boldItalic r:id="rId32"/>
    </p:embeddedFont>
    <p:embeddedFont>
      <p:font typeface="Roboto Light" panose="02000000000000000000" pitchFamily="2" charset="0"/>
      <p:regular r:id="rId33"/>
      <p:bold r:id="rId34"/>
      <p:italic r:id="rId35"/>
      <p:boldItalic r:id="rId36"/>
    </p:embeddedFont>
  </p:embeddedFontLst>
  <p:custDataLst>
    <p:tags r:id="rId3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55" userDrawn="1">
          <p15:clr>
            <a:srgbClr val="000000"/>
          </p15:clr>
        </p15:guide>
        <p15:guide id="2" pos="58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00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89"/>
  </p:normalViewPr>
  <p:slideViewPr>
    <p:cSldViewPr snapToGrid="0">
      <p:cViewPr varScale="1">
        <p:scale>
          <a:sx n="52" d="100"/>
          <a:sy n="52" d="100"/>
        </p:scale>
        <p:origin x="878" y="62"/>
      </p:cViewPr>
      <p:guideLst>
        <p:guide orient="horz" pos="655"/>
        <p:guide pos="5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1_FIRST_SLIDE_LAYOU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73960F-5BCD-9B71-8C77-4E720F5358F1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109652" y="2882068"/>
            <a:ext cx="14068696" cy="180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15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Smart Slides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9652" y="4823012"/>
            <a:ext cx="14044090" cy="443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Make Slides in a flash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683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1st_Slide_FULL_LAYOU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29400" y="1027450"/>
            <a:ext cx="13969941" cy="180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tx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Smart Slides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929400" y="3429000"/>
            <a:ext cx="11310225" cy="443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Make Slides in a flash</a:t>
            </a:r>
            <a:endParaRPr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73960F-5BCD-9B71-8C77-4E720F5358F1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3910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BASIC_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5F9A914-029A-FACA-89CD-82BDDCAA23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899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F9A914-029A-FACA-89CD-82BDDCAA23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4" y="2277035"/>
            <a:ext cx="13968341" cy="732419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533400" lvl="0" indent="-4572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Raleway" pitchFamily="2" charset="77"/>
                <a:ea typeface="Raleway" pitchFamily="2" charset="77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3968341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Raleway" pitchFamily="2" charset="7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background_block">
            <a:extLst>
              <a:ext uri="{FF2B5EF4-FFF2-40B4-BE49-F238E27FC236}">
                <a16:creationId xmlns:a16="http://schemas.microsoft.com/office/drawing/2014/main" id="{75F89250-7C5B-B1F5-8200-8B8C635D3F3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7756372" y="0"/>
            <a:ext cx="531628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2135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TEXT_HALF_COLO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98735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879496" y="3708450"/>
            <a:ext cx="7489429" cy="589275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879496" y="2263774"/>
            <a:ext cx="7489429" cy="144467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16002000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background_block">
            <a:extLst>
              <a:ext uri="{FF2B5EF4-FFF2-40B4-BE49-F238E27FC236}">
                <a16:creationId xmlns:a16="http://schemas.microsoft.com/office/drawing/2014/main" id="{E0646940-DA1E-5EA3-E796-448F4439F9B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9113045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720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FULLPAGE_IMAGE_QUOT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mage">
            <a:extLst>
              <a:ext uri="{FF2B5EF4-FFF2-40B4-BE49-F238E27FC236}">
                <a16:creationId xmlns:a16="http://schemas.microsoft.com/office/drawing/2014/main" id="{94B6F339-EBB5-67F5-7B23-40FE42957964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-1" y="6375"/>
            <a:ext cx="18288001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5" name="transparent_block"/>
          <p:cNvSpPr>
            <a:spLocks noGrp="1"/>
          </p:cNvSpPr>
          <p:nvPr>
            <p:ph type="pic" idx="2" hasCustomPrompt="1"/>
          </p:nvPr>
        </p:nvSpPr>
        <p:spPr>
          <a:xfrm>
            <a:off x="1" y="6375"/>
            <a:ext cx="18287999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" name="image_attribution">
            <a:extLst>
              <a:ext uri="{FF2B5EF4-FFF2-40B4-BE49-F238E27FC236}">
                <a16:creationId xmlns:a16="http://schemas.microsoft.com/office/drawing/2014/main" id="{9EF8EFC7-DE23-07B9-50F1-01C75247A78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-1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2671483" y="5869292"/>
            <a:ext cx="13330518" cy="2759076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76200" lvl="0" indent="0" algn="ctr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2671482" y="2263775"/>
            <a:ext cx="13330518" cy="2879726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8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01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AGENDA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862458" y="0"/>
            <a:ext cx="5055325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29401" y="2011363"/>
            <a:ext cx="8214600" cy="141763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4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929401" y="3747247"/>
            <a:ext cx="8214600" cy="500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571500" lvl="0" indent="-57150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097672A-5659-5B5F-6D5C-F22FA04F334D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7450"/>
            <a:ext cx="1828950" cy="1808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2" name="image_attribution">
            <a:extLst>
              <a:ext uri="{FF2B5EF4-FFF2-40B4-BE49-F238E27FC236}">
                <a16:creationId xmlns:a16="http://schemas.microsoft.com/office/drawing/2014/main" id="{4FAB3CEC-34D5-F8C2-2849-CD522F40C82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862458" y="9601200"/>
            <a:ext cx="505532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7760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MIDDLE_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5F9A914-029A-FACA-89CD-82BDDCAA23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899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F9A914-029A-FACA-89CD-82BDDCAA23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4831491" y="3207472"/>
            <a:ext cx="6499897" cy="192965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4831492" y="5149875"/>
            <a:ext cx="6499896" cy="445772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533400" lvl="0" indent="-4572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8" name="logo"/>
          <p:cNvSpPr>
            <a:spLocks noGrp="1"/>
          </p:cNvSpPr>
          <p:nvPr>
            <p:ph type="pic" idx="2"/>
          </p:nvPr>
        </p:nvSpPr>
        <p:spPr>
          <a:xfrm>
            <a:off x="4831491" y="102870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image">
            <a:extLst>
              <a:ext uri="{FF2B5EF4-FFF2-40B4-BE49-F238E27FC236}">
                <a16:creationId xmlns:a16="http://schemas.microsoft.com/office/drawing/2014/main" id="{06D4F85C-9A50-3DC0-80AA-7315DE0FAC40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2239625" y="6375"/>
            <a:ext cx="6048375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2</a:t>
            </a:r>
          </a:p>
        </p:txBody>
      </p:sp>
      <p:sp>
        <p:nvSpPr>
          <p:cNvPr id="4" name="background_block">
            <a:extLst>
              <a:ext uri="{FF2B5EF4-FFF2-40B4-BE49-F238E27FC236}">
                <a16:creationId xmlns:a16="http://schemas.microsoft.com/office/drawing/2014/main" id="{38176A5C-D173-4CE5-8B87-A1D02EA54F9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0926" y="0"/>
            <a:ext cx="4094909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6" name="image_attribution">
            <a:extLst>
              <a:ext uri="{FF2B5EF4-FFF2-40B4-BE49-F238E27FC236}">
                <a16:creationId xmlns:a16="http://schemas.microsoft.com/office/drawing/2014/main" id="{27D196E1-1554-1258-960F-5C778357F79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2239625" y="9601200"/>
            <a:ext cx="505532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99584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9144000" y="6375"/>
            <a:ext cx="91440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3729318"/>
            <a:ext cx="7529186" cy="587188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19163" y="2263775"/>
            <a:ext cx="7529186" cy="146554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6569A8CA-36B2-E265-E4E7-8A8DF21B36D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277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23RD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197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6119813" y="6375"/>
            <a:ext cx="12168187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3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4410635"/>
            <a:ext cx="4624475" cy="519056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19075" y="2263775"/>
            <a:ext cx="4624475" cy="2146859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21B0C253-932F-B3BD-E206-97C92A0A7EA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9813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89932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TOP_WITH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_block">
            <a:extLst>
              <a:ext uri="{FF2B5EF4-FFF2-40B4-BE49-F238E27FC236}">
                <a16:creationId xmlns:a16="http://schemas.microsoft.com/office/drawing/2014/main" id="{A1C84CE4-FE6A-F2C4-A6BC-618800B883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5143500"/>
            <a:ext cx="1223962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12239624" y="6375"/>
            <a:ext cx="6048375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919074" y="5865222"/>
            <a:ext cx="10393359" cy="373597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075" y="2263775"/>
            <a:ext cx="10393358" cy="21939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5883D0F6-2B8F-8E60-1AD0-C2C9565B7E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97787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SMALL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_block">
            <a:extLst>
              <a:ext uri="{FF2B5EF4-FFF2-40B4-BE49-F238E27FC236}">
                <a16:creationId xmlns:a16="http://schemas.microsoft.com/office/drawing/2014/main" id="{A1C84CE4-FE6A-F2C4-A6BC-618800B883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5143500"/>
            <a:ext cx="18287999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12239624" y="6375"/>
            <a:ext cx="6048375" cy="51371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919074" y="5865222"/>
            <a:ext cx="10393359" cy="373597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075" y="2263775"/>
            <a:ext cx="10393358" cy="21939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5883D0F6-2B8F-8E60-1AD0-C2C9565B7E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06555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23RD_IMG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-30955" y="6375"/>
            <a:ext cx="1227058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12744450" y="4428564"/>
            <a:ext cx="4624475" cy="517263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12744450" y="2263775"/>
            <a:ext cx="4624475" cy="2164788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6A16B800-55C2-CFB0-4AA2-3CBB648B98D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16604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IMAGE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98735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-30955" y="6375"/>
            <a:ext cx="91440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2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879496" y="3708450"/>
            <a:ext cx="7489429" cy="589275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879496" y="2263774"/>
            <a:ext cx="7489429" cy="144467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16002000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FB52679D-00ED-7CE2-017B-041885E86B3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5" name="background_block">
            <a:extLst>
              <a:ext uri="{FF2B5EF4-FFF2-40B4-BE49-F238E27FC236}">
                <a16:creationId xmlns:a16="http://schemas.microsoft.com/office/drawing/2014/main" id="{7BEEA341-586D-B048-35BC-9616BE85A2D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713842" y="0"/>
            <a:ext cx="57257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146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3_BLOCK_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E95E2-5F9A-CB34-90F6-EF198646E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20</a:t>
            </a:r>
          </a:p>
        </p:txBody>
      </p:sp>
      <p:sp>
        <p:nvSpPr>
          <p:cNvPr id="22" name="background_block">
            <a:extLst>
              <a:ext uri="{FF2B5EF4-FFF2-40B4-BE49-F238E27FC236}">
                <a16:creationId xmlns:a16="http://schemas.microsoft.com/office/drawing/2014/main" id="{D41494DB-BB2C-1488-7FA7-14252B9BB5E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0" y="9601200"/>
            <a:ext cx="18288000" cy="68579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AU" dirty="0"/>
          </a:p>
        </p:txBody>
      </p:sp>
      <p:sp>
        <p:nvSpPr>
          <p:cNvPr id="25" name="content_3">
            <a:extLst>
              <a:ext uri="{FF2B5EF4-FFF2-40B4-BE49-F238E27FC236}">
                <a16:creationId xmlns:a16="http://schemas.microsoft.com/office/drawing/2014/main" id="{A0A92251-08F7-740D-70BE-AE9F66EC98FA}"/>
              </a:ext>
            </a:extLst>
          </p:cNvPr>
          <p:cNvSpPr txBox="1">
            <a:spLocks noGrp="1"/>
          </p:cNvSpPr>
          <p:nvPr>
            <p:ph type="body" idx="21" hasCustomPrompt="1"/>
          </p:nvPr>
        </p:nvSpPr>
        <p:spPr>
          <a:xfrm>
            <a:off x="11357186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21</a:t>
            </a:r>
            <a:endParaRPr dirty="0"/>
          </a:p>
        </p:txBody>
      </p:sp>
      <p:sp>
        <p:nvSpPr>
          <p:cNvPr id="26" name="image_3">
            <a:extLst>
              <a:ext uri="{FF2B5EF4-FFF2-40B4-BE49-F238E27FC236}">
                <a16:creationId xmlns:a16="http://schemas.microsoft.com/office/drawing/2014/main" id="{989A4AD0-78D2-7CB1-A52C-254E41F679F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661779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18</a:t>
            </a:r>
          </a:p>
        </p:txBody>
      </p:sp>
      <p:sp>
        <p:nvSpPr>
          <p:cNvPr id="23" name="content_2">
            <a:extLst>
              <a:ext uri="{FF2B5EF4-FFF2-40B4-BE49-F238E27FC236}">
                <a16:creationId xmlns:a16="http://schemas.microsoft.com/office/drawing/2014/main" id="{32C7D559-D1EE-DBF8-7D21-FD5B68299FB8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6119813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24" name="image_2">
            <a:extLst>
              <a:ext uri="{FF2B5EF4-FFF2-40B4-BE49-F238E27FC236}">
                <a16:creationId xmlns:a16="http://schemas.microsoft.com/office/drawing/2014/main" id="{15E11F02-F723-E887-1059-7D8B547CC1F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24406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23668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2" name="image_attribution">
            <a:extLst>
              <a:ext uri="{FF2B5EF4-FFF2-40B4-BE49-F238E27FC236}">
                <a16:creationId xmlns:a16="http://schemas.microsoft.com/office/drawing/2014/main" id="{7D4BB170-9F09-7110-3CD4-AF58BD7B65E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383720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3_BLOCK_LAYOUT_V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E95E2-5F9A-CB34-90F6-EF198646E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22</a:t>
            </a:r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31000" y="2747907"/>
            <a:ext cx="4656225" cy="2047037"/>
          </a:xfr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22" name="background_block">
            <a:extLst>
              <a:ext uri="{FF2B5EF4-FFF2-40B4-BE49-F238E27FC236}">
                <a16:creationId xmlns:a16="http://schemas.microsoft.com/office/drawing/2014/main" id="{D41494DB-BB2C-1488-7FA7-14252B9BB5E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0" y="0"/>
            <a:ext cx="36195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AU" dirty="0"/>
          </a:p>
        </p:txBody>
      </p:sp>
      <p:sp>
        <p:nvSpPr>
          <p:cNvPr id="25" name="content_3">
            <a:extLst>
              <a:ext uri="{FF2B5EF4-FFF2-40B4-BE49-F238E27FC236}">
                <a16:creationId xmlns:a16="http://schemas.microsoft.com/office/drawing/2014/main" id="{A0A92251-08F7-740D-70BE-AE9F66EC98FA}"/>
              </a:ext>
            </a:extLst>
          </p:cNvPr>
          <p:cNvSpPr txBox="1">
            <a:spLocks noGrp="1"/>
          </p:cNvSpPr>
          <p:nvPr>
            <p:ph type="body" idx="21" hasCustomPrompt="1"/>
          </p:nvPr>
        </p:nvSpPr>
        <p:spPr>
          <a:xfrm>
            <a:off x="11357186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26" name="image_3">
            <a:extLst>
              <a:ext uri="{FF2B5EF4-FFF2-40B4-BE49-F238E27FC236}">
                <a16:creationId xmlns:a16="http://schemas.microsoft.com/office/drawing/2014/main" id="{989A4AD0-78D2-7CB1-A52C-254E41F679F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1357186" y="2747905"/>
            <a:ext cx="4644814" cy="2047037"/>
          </a:xfrm>
        </p:spPr>
        <p:txBody>
          <a:bodyPr/>
          <a:lstStyle/>
          <a:p>
            <a:r>
              <a:rPr lang="en-AU" dirty="0"/>
              <a:t>18</a:t>
            </a:r>
          </a:p>
        </p:txBody>
      </p:sp>
      <p:sp>
        <p:nvSpPr>
          <p:cNvPr id="23" name="content_2">
            <a:extLst>
              <a:ext uri="{FF2B5EF4-FFF2-40B4-BE49-F238E27FC236}">
                <a16:creationId xmlns:a16="http://schemas.microsoft.com/office/drawing/2014/main" id="{32C7D559-D1EE-DBF8-7D21-FD5B68299FB8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6119813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21</a:t>
            </a:r>
            <a:endParaRPr dirty="0"/>
          </a:p>
        </p:txBody>
      </p:sp>
      <p:sp>
        <p:nvSpPr>
          <p:cNvPr id="24" name="image_2">
            <a:extLst>
              <a:ext uri="{FF2B5EF4-FFF2-40B4-BE49-F238E27FC236}">
                <a16:creationId xmlns:a16="http://schemas.microsoft.com/office/drawing/2014/main" id="{15E11F02-F723-E887-1059-7D8B547CC1F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8390" y="2747906"/>
            <a:ext cx="4677648" cy="2047037"/>
          </a:xfr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192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4_BLOCK_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E95E2-5F9A-CB34-90F6-EF198646E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ontent_4">
            <a:extLst>
              <a:ext uri="{FF2B5EF4-FFF2-40B4-BE49-F238E27FC236}">
                <a16:creationId xmlns:a16="http://schemas.microsoft.com/office/drawing/2014/main" id="{97130B1B-4ED5-07BD-72B7-007C1D1E0682}"/>
              </a:ext>
            </a:extLst>
          </p:cNvPr>
          <p:cNvSpPr txBox="1">
            <a:spLocks noGrp="1"/>
          </p:cNvSpPr>
          <p:nvPr>
            <p:ph type="body" idx="25" hasCustomPrompt="1"/>
          </p:nvPr>
        </p:nvSpPr>
        <p:spPr>
          <a:xfrm>
            <a:off x="13473932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25</a:t>
            </a:r>
            <a:endParaRPr dirty="0"/>
          </a:p>
        </p:txBody>
      </p:sp>
      <p:sp>
        <p:nvSpPr>
          <p:cNvPr id="22" name="image_4">
            <a:extLst>
              <a:ext uri="{FF2B5EF4-FFF2-40B4-BE49-F238E27FC236}">
                <a16:creationId xmlns:a16="http://schemas.microsoft.com/office/drawing/2014/main" id="{4D333938-660B-24CF-7672-26505437B26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473932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23</a:t>
            </a:r>
          </a:p>
        </p:txBody>
      </p:sp>
      <p:sp>
        <p:nvSpPr>
          <p:cNvPr id="12" name="content_3">
            <a:extLst>
              <a:ext uri="{FF2B5EF4-FFF2-40B4-BE49-F238E27FC236}">
                <a16:creationId xmlns:a16="http://schemas.microsoft.com/office/drawing/2014/main" id="{4EC85EFB-1D00-34F3-DEFC-3D132152607F}"/>
              </a:ext>
            </a:extLst>
          </p:cNvPr>
          <p:cNvSpPr txBox="1">
            <a:spLocks noGrp="1"/>
          </p:cNvSpPr>
          <p:nvPr>
            <p:ph type="body" idx="22" hasCustomPrompt="1"/>
          </p:nvPr>
        </p:nvSpPr>
        <p:spPr>
          <a:xfrm>
            <a:off x="9288980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22</a:t>
            </a:r>
            <a:endParaRPr dirty="0"/>
          </a:p>
        </p:txBody>
      </p:sp>
      <p:sp>
        <p:nvSpPr>
          <p:cNvPr id="13" name="image_3">
            <a:extLst>
              <a:ext uri="{FF2B5EF4-FFF2-40B4-BE49-F238E27FC236}">
                <a16:creationId xmlns:a16="http://schemas.microsoft.com/office/drawing/2014/main" id="{EA08CF17-561F-6A45-B311-DF3E79243E6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288980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20</a:t>
            </a:r>
          </a:p>
        </p:txBody>
      </p:sp>
      <p:sp>
        <p:nvSpPr>
          <p:cNvPr id="2" name="content_2">
            <a:extLst>
              <a:ext uri="{FF2B5EF4-FFF2-40B4-BE49-F238E27FC236}">
                <a16:creationId xmlns:a16="http://schemas.microsoft.com/office/drawing/2014/main" id="{B72C5E58-53F4-0EA6-D32E-ADEF51F174DB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5104028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5" name="image_2">
            <a:extLst>
              <a:ext uri="{FF2B5EF4-FFF2-40B4-BE49-F238E27FC236}">
                <a16:creationId xmlns:a16="http://schemas.microsoft.com/office/drawing/2014/main" id="{548E7E5D-1895-B2EB-B13F-C15207C409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104028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26</a:t>
            </a:r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19076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6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background_block">
            <a:extLst>
              <a:ext uri="{FF2B5EF4-FFF2-40B4-BE49-F238E27FC236}">
                <a16:creationId xmlns:a16="http://schemas.microsoft.com/office/drawing/2014/main" id="{D430C6F0-E30A-7BAF-6C33-C5B5211D4B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887448"/>
            <a:ext cx="18286412" cy="399551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734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CHART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33252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3429000"/>
            <a:ext cx="4624475" cy="6172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6994357" y="1028700"/>
            <a:ext cx="10374479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chart_attribution">
            <a:extLst>
              <a:ext uri="{FF2B5EF4-FFF2-40B4-BE49-F238E27FC236}">
                <a16:creationId xmlns:a16="http://schemas.microsoft.com/office/drawing/2014/main" id="{21B0C253-932F-B3BD-E206-97C92A0A7EA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9124" y="9601200"/>
            <a:ext cx="10404476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A3D5285-BC74-616C-FC2D-82173282C05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94357" y="2263775"/>
            <a:ext cx="10399712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5F36563A-2106-69C5-E8E9-27FA96DE80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94357" y="3429000"/>
            <a:ext cx="10399712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background_block">
            <a:extLst>
              <a:ext uri="{FF2B5EF4-FFF2-40B4-BE49-F238E27FC236}">
                <a16:creationId xmlns:a16="http://schemas.microsoft.com/office/drawing/2014/main" id="{688175B4-C1B3-DC4A-FC57-AA718C3244C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726546" y="0"/>
            <a:ext cx="559866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17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CHART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_block">
            <a:extLst>
              <a:ext uri="{FF2B5EF4-FFF2-40B4-BE49-F238E27FC236}">
                <a16:creationId xmlns:a16="http://schemas.microsoft.com/office/drawing/2014/main" id="{FDEABBCE-427C-A928-7A5F-A6E46759AD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607550"/>
            <a:ext cx="18286412" cy="67945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12744450" y="3429000"/>
            <a:ext cx="4624475" cy="5918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163" y="1028700"/>
            <a:ext cx="14625637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3398EF0-41AD-1DA3-9D4A-789F64FD72B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9957" y="2263775"/>
            <a:ext cx="10399712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C3DA4F55-4539-14D6-34D1-2DAB4E8397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075" y="3429000"/>
            <a:ext cx="10399712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chart_attribution">
            <a:extLst>
              <a:ext uri="{FF2B5EF4-FFF2-40B4-BE49-F238E27FC236}">
                <a16:creationId xmlns:a16="http://schemas.microsoft.com/office/drawing/2014/main" id="{BD69A525-8BD0-FB5F-9FB7-C8A123291AF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744450" y="9601200"/>
            <a:ext cx="46244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394265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FULLPAGE_CHAR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163" y="1028700"/>
            <a:ext cx="14625637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3398EF0-41AD-1DA3-9D4A-789F64FD72B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9956" y="2263775"/>
            <a:ext cx="14624843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C3DA4F55-4539-14D6-34D1-2DAB4E8397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074" y="3429000"/>
            <a:ext cx="14625725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background_block">
            <a:extLst>
              <a:ext uri="{FF2B5EF4-FFF2-40B4-BE49-F238E27FC236}">
                <a16:creationId xmlns:a16="http://schemas.microsoft.com/office/drawing/2014/main" id="{C99C115F-07D7-7960-E7F5-D108DC3DF8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607550"/>
            <a:ext cx="18286412" cy="67945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8" name="chart_attribution">
            <a:extLst>
              <a:ext uri="{FF2B5EF4-FFF2-40B4-BE49-F238E27FC236}">
                <a16:creationId xmlns:a16="http://schemas.microsoft.com/office/drawing/2014/main" id="{5FFC2887-C1F1-3ECB-D55D-8EC43892E78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744450" y="9601200"/>
            <a:ext cx="46244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CHART_ATTRIBUTION</a:t>
            </a:r>
          </a:p>
        </p:txBody>
      </p:sp>
    </p:spTree>
    <p:extLst>
      <p:ext uri="{BB962C8B-B14F-4D97-AF65-F5344CB8AC3E}">
        <p14:creationId xmlns:p14="http://schemas.microsoft.com/office/powerpoint/2010/main" val="47677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D679FE-3B60-23E0-8EBD-D3204877D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20406065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95" imgH="394" progId="TCLayout.ActiveDocument.1">
                  <p:embed/>
                </p:oleObj>
              </mc:Choice>
              <mc:Fallback>
                <p:oleObj name="think-cell Slide" r:id="rId22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D679FE-3B60-23E0-8EBD-D3204877DB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Font typeface="Calibri"/>
              <a:buNone/>
              <a:defRPr sz="4800"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9075" y="2464225"/>
            <a:ext cx="14625600" cy="7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 err="1"/>
              <a:t>asd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06DCB6-BDD3-0C02-D0C6-B4B53F933815}"/>
              </a:ext>
            </a:extLst>
          </p:cNvPr>
          <p:cNvSpPr txBox="1"/>
          <p:nvPr userDrawn="1"/>
        </p:nvSpPr>
        <p:spPr>
          <a:xfrm>
            <a:off x="931000" y="9601200"/>
            <a:ext cx="518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A, Larhlimi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1" r:id="rId3"/>
    <p:sldLayoutId id="2147483673" r:id="rId4"/>
    <p:sldLayoutId id="2147483666" r:id="rId5"/>
    <p:sldLayoutId id="2147483662" r:id="rId6"/>
    <p:sldLayoutId id="2147483664" r:id="rId7"/>
    <p:sldLayoutId id="2147483660" r:id="rId8"/>
    <p:sldLayoutId id="2147483657" r:id="rId9"/>
    <p:sldLayoutId id="2147483665" r:id="rId10"/>
    <p:sldLayoutId id="2147483674" r:id="rId11"/>
    <p:sldLayoutId id="2147483658" r:id="rId12"/>
    <p:sldLayoutId id="2147483661" r:id="rId13"/>
    <p:sldLayoutId id="2147483655" r:id="rId14"/>
    <p:sldLayoutId id="2147483659" r:id="rId15"/>
    <p:sldLayoutId id="2147483656" r:id="rId16"/>
    <p:sldLayoutId id="2147483668" r:id="rId17"/>
    <p:sldLayoutId id="2147483669" r:id="rId18"/>
    <p:sldLayoutId id="2147483672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760">
          <p15:clr>
            <a:srgbClr val="E46962"/>
          </p15:clr>
        </p15:guide>
        <p15:guide id="2" pos="579">
          <p15:clr>
            <a:srgbClr val="E46962"/>
          </p15:clr>
        </p15:guide>
        <p15:guide id="3" pos="10944">
          <p15:clr>
            <a:srgbClr val="E46962"/>
          </p15:clr>
        </p15:guide>
        <p15:guide id="4" orient="horz" pos="648">
          <p15:clr>
            <a:srgbClr val="E46962"/>
          </p15:clr>
        </p15:guide>
        <p15:guide id="5" orient="horz" pos="6048">
          <p15:clr>
            <a:srgbClr val="E46962"/>
          </p15:clr>
        </p15:guide>
        <p15:guide id="6" orient="horz" pos="3240">
          <p15:clr>
            <a:srgbClr val="E46962"/>
          </p15:clr>
        </p15:guide>
        <p15:guide id="7" orient="horz" pos="1267">
          <p15:clr>
            <a:srgbClr val="E46962"/>
          </p15:clr>
        </p15:guide>
        <p15:guide id="8" pos="9792">
          <p15:clr>
            <a:srgbClr val="E46962"/>
          </p15:clr>
        </p15:guide>
        <p15:guide id="9" pos="10080">
          <p15:clr>
            <a:srgbClr val="E46962"/>
          </p15:clr>
        </p15:guide>
        <p15:guide id="10" pos="3855" userDrawn="1">
          <p15:clr>
            <a:srgbClr val="E46962"/>
          </p15:clr>
        </p15:guide>
        <p15:guide id="11" pos="7710" userDrawn="1">
          <p15:clr>
            <a:srgbClr val="E46962"/>
          </p15:clr>
        </p15:guide>
        <p15:guide id="12" orient="horz" pos="2160" userDrawn="1">
          <p15:clr>
            <a:srgbClr val="E46962"/>
          </p15:clr>
        </p15:guide>
        <p15:guide id="13" orient="horz" pos="4310" userDrawn="1">
          <p15:clr>
            <a:srgbClr val="E46962"/>
          </p15:clr>
        </p15:guide>
        <p15:guide id="14" orient="horz" pos="14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martslides.crisp.help/en/article/how-to-use-smart-slides-1w14fiw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FC5B71-67AB-5D93-A1A4-B95EAE1F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sz="4800" dirty="0"/>
              <a:t>Java Avancé</a:t>
            </a:r>
            <a:endParaRPr lang="en-US" sz="4800" dirty="0">
              <a:solidFill>
                <a:srgbClr val="8500EA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67CAAE-D0DC-E770-4CEF-DD7329B719CB}"/>
              </a:ext>
            </a:extLst>
          </p:cNvPr>
          <p:cNvSpPr txBox="1"/>
          <p:nvPr/>
        </p:nvSpPr>
        <p:spPr>
          <a:xfrm>
            <a:off x="4559697" y="942406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Smart Slides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07D0159E-18E5-B098-6132-2C5C1433C0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63040" y="4290955"/>
            <a:ext cx="15925800" cy="1684020"/>
          </a:xfrm>
        </p:spPr>
        <p:txBody>
          <a:bodyPr/>
          <a:lstStyle/>
          <a:p>
            <a:pPr algn="ctr"/>
            <a:r>
              <a:rPr lang="fr-MA" sz="4800" dirty="0"/>
              <a:t>Hibernate Framework (Object </a:t>
            </a:r>
            <a:r>
              <a:rPr lang="fr-MA" sz="4800" dirty="0" err="1"/>
              <a:t>Relational</a:t>
            </a:r>
            <a:r>
              <a:rPr lang="fr-MA" sz="4800" dirty="0"/>
              <a:t> Mapping)</a:t>
            </a:r>
            <a:endParaRPr lang="en-US" sz="4800" dirty="0">
              <a:solidFill>
                <a:srgbClr val="8500EA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4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rPr dirty="0"/>
              <a:t>Hibernate est un framework ORM (Object Relational Mapping) pour Java.</a:t>
            </a:r>
          </a:p>
          <a:p>
            <a:pPr>
              <a:defRPr sz="3600">
                <a:latin typeface="Calibri"/>
              </a:defRPr>
            </a:pPr>
            <a:r>
              <a:rPr dirty="0"/>
              <a:t>Il </a:t>
            </a:r>
            <a:r>
              <a:rPr dirty="0" err="1"/>
              <a:t>simplifie</a:t>
            </a:r>
            <a:r>
              <a:rPr dirty="0"/>
              <a:t> la gestion de la </a:t>
            </a:r>
            <a:r>
              <a:rPr dirty="0" err="1"/>
              <a:t>persistance</a:t>
            </a:r>
            <a:r>
              <a:rPr dirty="0"/>
              <a:t> des </a:t>
            </a:r>
            <a:r>
              <a:rPr dirty="0" err="1"/>
              <a:t>objets</a:t>
            </a:r>
            <a:r>
              <a:rPr dirty="0"/>
              <a:t> Java dans </a:t>
            </a:r>
            <a:r>
              <a:rPr dirty="0" err="1"/>
              <a:t>une</a:t>
            </a:r>
            <a:r>
              <a:rPr dirty="0"/>
              <a:t> base de données </a:t>
            </a:r>
            <a:r>
              <a:rPr dirty="0" err="1"/>
              <a:t>relationnelle</a:t>
            </a:r>
            <a:r>
              <a:rPr dirty="0"/>
              <a:t>.</a:t>
            </a:r>
          </a:p>
          <a:p>
            <a:pPr algn="just">
              <a:defRPr sz="3600">
                <a:latin typeface="Calibri"/>
              </a:defRPr>
            </a:pPr>
            <a:r>
              <a:rPr dirty="0"/>
              <a:t>Permet </a:t>
            </a:r>
            <a:r>
              <a:rPr dirty="0" err="1"/>
              <a:t>d’éviter</a:t>
            </a:r>
            <a:r>
              <a:rPr dirty="0"/>
              <a:t> le code SQL </a:t>
            </a:r>
            <a:r>
              <a:rPr dirty="0" err="1"/>
              <a:t>manuel</a:t>
            </a:r>
            <a:r>
              <a:rPr dirty="0"/>
              <a:t> et de se </a:t>
            </a:r>
            <a:r>
              <a:rPr dirty="0" err="1"/>
              <a:t>concentrer</a:t>
            </a:r>
            <a:r>
              <a:rPr dirty="0"/>
              <a:t> sur la </a:t>
            </a:r>
            <a:r>
              <a:rPr dirty="0" err="1"/>
              <a:t>logique</a:t>
            </a:r>
            <a:r>
              <a:rPr dirty="0"/>
              <a:t> métier.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rPr dirty="0"/>
              <a:t>Introduction à Hibernate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pic>
        <p:nvPicPr>
          <p:cNvPr id="1028" name="Picture 4" descr="Object Relational Mapping - Java Persistence API">
            <a:extLst>
              <a:ext uri="{FF2B5EF4-FFF2-40B4-BE49-F238E27FC236}">
                <a16:creationId xmlns:a16="http://schemas.microsoft.com/office/drawing/2014/main" id="{1C019DBF-2C4A-16F7-3239-C7FC56EA7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484" y="3729317"/>
            <a:ext cx="7928463" cy="368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KooR.fr - Introduction de l'utilisation de JPA - Le tutoriel Jakarta/Java EE">
            <a:extLst>
              <a:ext uri="{FF2B5EF4-FFF2-40B4-BE49-F238E27FC236}">
                <a16:creationId xmlns:a16="http://schemas.microsoft.com/office/drawing/2014/main" id="{DEE44177-C876-E31C-B7ED-42226617C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1895" y="877862"/>
            <a:ext cx="5486400" cy="697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905C5AA-BD67-2A12-F21B-3E007561B0F4}"/>
              </a:ext>
            </a:extLst>
          </p:cNvPr>
          <p:cNvSpPr txBox="1"/>
          <p:nvPr/>
        </p:nvSpPr>
        <p:spPr>
          <a:xfrm>
            <a:off x="914400" y="1256397"/>
            <a:ext cx="8126361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SzPts val="4000"/>
              <a:buFont typeface="Calibri"/>
              <a:buNone/>
              <a:defRPr sz="4600">
                <a:solidFill>
                  <a:srgbClr val="1E88E5"/>
                </a:solidFill>
                <a:latin typeface="Calibri"/>
                <a:ea typeface="Calibri"/>
                <a:cs typeface="Calibri" panose="020F0502020204030204" pitchFamily="34" charset="0"/>
                <a:sym typeface="Calibri"/>
              </a:defRPr>
            </a:lvl1pPr>
            <a:lvl2pPr>
              <a:buSzPts val="5300"/>
              <a:buNone/>
              <a:defRPr sz="5300"/>
            </a:lvl2pPr>
            <a:lvl3pPr>
              <a:buSzPts val="5300"/>
              <a:buNone/>
              <a:defRPr sz="5300"/>
            </a:lvl3pPr>
            <a:lvl4pPr>
              <a:buSzPts val="5300"/>
              <a:buNone/>
              <a:defRPr sz="5300"/>
            </a:lvl4pPr>
            <a:lvl5pPr>
              <a:buSzPts val="5300"/>
              <a:buNone/>
              <a:defRPr sz="5300"/>
            </a:lvl5pPr>
            <a:lvl6pPr>
              <a:buSzPts val="5300"/>
              <a:buNone/>
              <a:defRPr sz="5300"/>
            </a:lvl6pPr>
            <a:lvl7pPr>
              <a:buSzPts val="5300"/>
              <a:buNone/>
              <a:defRPr sz="5300"/>
            </a:lvl7pPr>
            <a:lvl8pPr>
              <a:buSzPts val="5300"/>
              <a:buNone/>
              <a:defRPr sz="5300"/>
            </a:lvl8pPr>
            <a:lvl9pPr>
              <a:buSzPts val="5300"/>
              <a:buNone/>
              <a:defRPr sz="5300"/>
            </a:lvl9pPr>
          </a:lstStyle>
          <a:p>
            <a:r>
              <a:rPr lang="fr-FR" dirty="0"/>
              <a:t>La persistance des données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F4A2538-49E8-5D42-F8B1-9391568691CB}"/>
              </a:ext>
            </a:extLst>
          </p:cNvPr>
          <p:cNvSpPr txBox="1"/>
          <p:nvPr/>
        </p:nvSpPr>
        <p:spPr>
          <a:xfrm>
            <a:off x="796413" y="2283493"/>
            <a:ext cx="1134151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fr-F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Abstraction quasi totale du langage SQL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: c'est le rôle de l'ORM de produire le code SQL équivalent à vos actions.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Indépendance vis-à-vis de la base de données utilisée 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comme vous ne produisez pas le code SQL, vous n'êtes pas lié à une base de données précise. Les ORM JPA peuvent travailler sur toutes les bases de données manipulables par JDBC. Vous êtes donc libre de changer votre </a:t>
            </a:r>
            <a:r>
              <a:rPr lang="fr-FR" sz="28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SGBDr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(Système de Gestion de Base de Données relationnel) à tout moment.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Meilleure productivité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: comparer à JDBC, vous avez beaucoup moins de code à produire (et notamment avec le SQL).</a:t>
            </a:r>
          </a:p>
          <a:p>
            <a:pPr algn="just">
              <a:buNone/>
            </a:pPr>
            <a:r>
              <a:rPr lang="fr-FR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Risque d'injection SQL fortement réduit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: vu que vous ne produisez plus de codes SQL, vous évitez un grand nombre d'attaques basées sur une mauvaise utilisation de ce langage.</a:t>
            </a:r>
          </a:p>
        </p:txBody>
      </p:sp>
    </p:spTree>
    <p:extLst>
      <p:ext uri="{BB962C8B-B14F-4D97-AF65-F5344CB8AC3E}">
        <p14:creationId xmlns:p14="http://schemas.microsoft.com/office/powerpoint/2010/main" val="54558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F22EEF85-4C85-3429-FA42-745B2580F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596" y="1856916"/>
            <a:ext cx="12774808" cy="6573167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B11BBF52-375C-A4BA-9BA1-93A13088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6596" y="391374"/>
            <a:ext cx="7529186" cy="1465542"/>
          </a:xfrm>
        </p:spPr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rPr lang="fr-MA" dirty="0"/>
              <a:t>Architecture Global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902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9E308C26-9048-741C-9E18-BD035FE69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479" y="1224097"/>
            <a:ext cx="9420379" cy="7363171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7AAB13E5-ABB0-44B0-8CC4-5F7CDD49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6596" y="391374"/>
            <a:ext cx="7529186" cy="1465542"/>
          </a:xfrm>
        </p:spPr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rPr lang="fr-MA" dirty="0"/>
              <a:t>DAO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947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903EA-D673-7952-9437-BC1CE9A5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210E6E0E-C372-A57D-0562-57BE6F88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6596" y="391374"/>
            <a:ext cx="7529186" cy="1465542"/>
          </a:xfrm>
        </p:spPr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rPr lang="fr-MA" dirty="0"/>
              <a:t>Mapping +++++</a:t>
            </a:r>
            <a:endParaRPr dirty="0"/>
          </a:p>
        </p:txBody>
      </p:sp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7890A4C-8500-8E07-42CF-B8424D5EF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129" y="1760457"/>
            <a:ext cx="10004459" cy="676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24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54EFD-399A-E69E-40E7-CE43FD97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3E199D23-6FAD-703B-0318-7A7D1739F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6596" y="391374"/>
            <a:ext cx="12935688" cy="1465542"/>
          </a:xfrm>
        </p:spPr>
        <p:txBody>
          <a:bodyPr>
            <a:normAutofit fontScale="90000"/>
          </a:bodyPr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rPr lang="fr-MA" dirty="0"/>
              <a:t>Principe de la Gestion des dépendances (Rappel Maven)</a:t>
            </a:r>
            <a:endParaRPr dirty="0"/>
          </a:p>
        </p:txBody>
      </p:sp>
      <p:pic>
        <p:nvPicPr>
          <p:cNvPr id="3" name="Image 2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98D0767B-79FF-3F50-DCF3-5A09429DE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596" y="1620905"/>
            <a:ext cx="11256987" cy="704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78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Comprendre le rôle et les avantages de Hibernate.</a:t>
            </a:r>
          </a:p>
          <a:p>
            <a:pPr>
              <a:defRPr sz="3600">
                <a:latin typeface="Calibri"/>
              </a:defRPr>
            </a:pPr>
            <a:r>
              <a:t>Apprendre à configurer Hibernate dans un projet Java.</a:t>
            </a:r>
          </a:p>
          <a:p>
            <a:pPr>
              <a:defRPr sz="3600">
                <a:latin typeface="Calibri"/>
              </a:defRPr>
            </a:pPr>
            <a:r>
              <a:t>Découvrir les principales opérations CRUD.</a:t>
            </a:r>
          </a:p>
          <a:p>
            <a:pPr>
              <a:defRPr sz="3600">
                <a:latin typeface="Calibri"/>
              </a:defRPr>
            </a:pPr>
            <a:r>
              <a:t>Réaliser un TP guidé pour mettre en pratique les concepts.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Objectifs de la présentation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Réduction du code SQL.</a:t>
            </a:r>
          </a:p>
          <a:p>
            <a:pPr>
              <a:defRPr sz="3600">
                <a:latin typeface="Calibri"/>
              </a:defRPr>
            </a:pPr>
            <a:r>
              <a:t>Portabilité entre SGBD.</a:t>
            </a:r>
          </a:p>
          <a:p>
            <a:pPr>
              <a:defRPr sz="3600">
                <a:latin typeface="Calibri"/>
              </a:defRPr>
            </a:pPr>
            <a:r>
              <a:t>Gestion automatique des relations entre objets.</a:t>
            </a:r>
          </a:p>
          <a:p>
            <a:pPr>
              <a:defRPr sz="3600">
                <a:latin typeface="Calibri"/>
              </a:defRPr>
            </a:pPr>
            <a:r>
              <a:t>Intégration facile avec Spring et JPA.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Pourquoi utiliser Hibernate 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Les principaux composants : SessionFactory, Session, Transaction, Query.</a:t>
            </a:r>
          </a:p>
          <a:p>
            <a:pPr>
              <a:defRPr sz="3600">
                <a:latin typeface="Calibri"/>
              </a:defRPr>
            </a:pPr>
            <a:r>
              <a:t>Hibernate utilise un cache pour optimiser les accès à la base de données.</a:t>
            </a:r>
          </a:p>
          <a:p>
            <a:pPr>
              <a:defRPr sz="3600">
                <a:latin typeface="Calibri"/>
              </a:defRPr>
            </a:pPr>
            <a:r>
              <a:t>La configuration est centralisée dans un fichier XML ou via annotations.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Architecture de Hibernate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rPr dirty="0"/>
              <a:t>JDBC : manipulation </a:t>
            </a:r>
            <a:r>
              <a:rPr dirty="0" err="1"/>
              <a:t>directe</a:t>
            </a:r>
            <a:r>
              <a:rPr dirty="0"/>
              <a:t> du SQL et des </a:t>
            </a:r>
            <a:r>
              <a:rPr dirty="0" err="1"/>
              <a:t>ResultSets</a:t>
            </a:r>
            <a:r>
              <a:rPr dirty="0"/>
              <a:t>.</a:t>
            </a:r>
          </a:p>
          <a:p>
            <a:pPr>
              <a:defRPr sz="3600">
                <a:latin typeface="Calibri"/>
              </a:defRPr>
            </a:pPr>
            <a:r>
              <a:rPr dirty="0"/>
              <a:t>Hibernate : gestion des </a:t>
            </a:r>
            <a:r>
              <a:rPr dirty="0" err="1"/>
              <a:t>entités</a:t>
            </a:r>
            <a:r>
              <a:rPr dirty="0"/>
              <a:t> Java et du mapping </a:t>
            </a:r>
            <a:r>
              <a:rPr dirty="0" err="1"/>
              <a:t>automatique</a:t>
            </a:r>
            <a:r>
              <a:rPr dirty="0"/>
              <a:t>.</a:t>
            </a:r>
          </a:p>
          <a:p>
            <a:pPr>
              <a:defRPr sz="3600">
                <a:latin typeface="Calibri"/>
              </a:defRPr>
            </a:pPr>
            <a:r>
              <a:rPr dirty="0"/>
              <a:t>Gain de </a:t>
            </a:r>
            <a:r>
              <a:rPr dirty="0" err="1"/>
              <a:t>productivité</a:t>
            </a:r>
            <a:r>
              <a:rPr dirty="0"/>
              <a:t> et maintenance </a:t>
            </a:r>
            <a:r>
              <a:rPr dirty="0" err="1"/>
              <a:t>facilitée</a:t>
            </a:r>
            <a:r>
              <a:rPr dirty="0"/>
              <a:t> avec Hibernate.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Comparaison JDBC vs Hibernate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Ajoutez la dépendance Hibernate dans le fichier pom.xml :</a:t>
            </a:r>
          </a:p>
          <a:p>
            <a:pPr>
              <a:defRPr sz="3600">
                <a:latin typeface="Calibri"/>
              </a:defRPr>
            </a:pPr>
            <a:r>
              <a:t>&lt;dependency&gt;</a:t>
            </a:r>
            <a:br/>
            <a:r>
              <a:t>  &lt;groupId&gt;org.hibernate&lt;/groupId&gt;</a:t>
            </a:r>
            <a:br/>
            <a:r>
              <a:t>  &lt;artifactId&gt;hibernate-core&lt;/artifactId&gt;</a:t>
            </a:r>
            <a:br/>
            <a:r>
              <a:t>  &lt;version&gt;6.4.1.Final&lt;/version&gt;</a:t>
            </a:r>
            <a:br/>
            <a:r>
              <a:t>&lt;/dependency&gt;</a:t>
            </a:r>
          </a:p>
          <a:p>
            <a:pPr>
              <a:defRPr sz="3600">
                <a:latin typeface="Calibri"/>
              </a:defRPr>
            </a:pPr>
            <a:r>
              <a:t>Incluez également la dépendance du driver JDBC correspondant à votre SGBD.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Installation et dépendances Maven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9073" y="1028700"/>
            <a:ext cx="13968341" cy="7324190"/>
          </a:xfrm>
        </p:spPr>
        <p:txBody>
          <a:bodyPr>
            <a:normAutofit/>
          </a:bodyPr>
          <a:lstStyle/>
          <a:p>
            <a:pPr>
              <a:defRPr sz="3600">
                <a:latin typeface="Calibri"/>
              </a:defRPr>
            </a:pPr>
            <a:r>
              <a:rPr sz="2800" dirty="0" err="1"/>
              <a:t>Exemple</a:t>
            </a:r>
            <a:r>
              <a:rPr sz="2800" dirty="0"/>
              <a:t> minimal :</a:t>
            </a:r>
          </a:p>
          <a:p>
            <a:pPr>
              <a:defRPr sz="3600">
                <a:latin typeface="Calibri"/>
              </a:defRPr>
            </a:pPr>
            <a:r>
              <a:rPr sz="2800" dirty="0"/>
              <a:t>&lt;hibernate-configuration&gt;</a:t>
            </a:r>
            <a:br>
              <a:rPr sz="2800" dirty="0"/>
            </a:br>
            <a:r>
              <a:rPr sz="2800" dirty="0"/>
              <a:t> &lt;session-factory&gt;</a:t>
            </a:r>
            <a:br>
              <a:rPr sz="2800" dirty="0"/>
            </a:br>
            <a:r>
              <a:rPr sz="2800" dirty="0"/>
              <a:t>  &lt;property name='</a:t>
            </a:r>
            <a:r>
              <a:rPr sz="2800" dirty="0" err="1"/>
              <a:t>hibernate.connection.driver_class</a:t>
            </a:r>
            <a:r>
              <a:rPr sz="2800" dirty="0"/>
              <a:t>'&gt;</a:t>
            </a:r>
            <a:r>
              <a:rPr sz="2800" dirty="0" err="1"/>
              <a:t>com.mysql.cj.jdbc.Driver</a:t>
            </a:r>
            <a:r>
              <a:rPr sz="2800" dirty="0"/>
              <a:t>&lt;/property&gt;</a:t>
            </a:r>
            <a:br>
              <a:rPr sz="2800" dirty="0"/>
            </a:br>
            <a:r>
              <a:rPr sz="2800" dirty="0"/>
              <a:t>  &lt;property name='hibernate.connection.url'&gt;</a:t>
            </a:r>
            <a:r>
              <a:rPr sz="2800" dirty="0" err="1"/>
              <a:t>jdbc:mysql</a:t>
            </a:r>
            <a:r>
              <a:rPr sz="2800" dirty="0"/>
              <a:t>://localhost:3306/</a:t>
            </a:r>
            <a:r>
              <a:rPr sz="2800" dirty="0" err="1"/>
              <a:t>testdb</a:t>
            </a:r>
            <a:r>
              <a:rPr sz="2800" dirty="0"/>
              <a:t>&lt;/property&gt;</a:t>
            </a:r>
            <a:br>
              <a:rPr sz="2800" dirty="0"/>
            </a:br>
            <a:r>
              <a:rPr sz="2800" dirty="0"/>
              <a:t>  &lt;property name='</a:t>
            </a:r>
            <a:r>
              <a:rPr sz="2800" dirty="0" err="1"/>
              <a:t>hibernate.connection.username</a:t>
            </a:r>
            <a:r>
              <a:rPr sz="2800" dirty="0"/>
              <a:t>'&gt;root&lt;/property&gt;</a:t>
            </a:r>
            <a:br>
              <a:rPr sz="2800" dirty="0"/>
            </a:br>
            <a:r>
              <a:rPr sz="2800" dirty="0"/>
              <a:t>  &lt;property name='</a:t>
            </a:r>
            <a:r>
              <a:rPr sz="2800" dirty="0" err="1"/>
              <a:t>hibernate.connection.password</a:t>
            </a:r>
            <a:r>
              <a:rPr sz="2800" dirty="0"/>
              <a:t>'&gt;root&lt;/property&gt;</a:t>
            </a:r>
            <a:br>
              <a:rPr sz="2800" dirty="0"/>
            </a:br>
            <a:r>
              <a:rPr sz="2800" dirty="0"/>
              <a:t>  &lt;property name='</a:t>
            </a:r>
            <a:r>
              <a:rPr sz="2800" dirty="0" err="1"/>
              <a:t>hibernate.dialect</a:t>
            </a:r>
            <a:r>
              <a:rPr sz="2800" dirty="0"/>
              <a:t>'&gt;</a:t>
            </a:r>
            <a:r>
              <a:rPr sz="2800" dirty="0" err="1"/>
              <a:t>org.hibernate.dialect.MySQLDialect</a:t>
            </a:r>
            <a:r>
              <a:rPr sz="2800" dirty="0"/>
              <a:t>&lt;/property&gt;</a:t>
            </a:r>
            <a:br>
              <a:rPr sz="2800" dirty="0"/>
            </a:br>
            <a:r>
              <a:rPr sz="2800" dirty="0"/>
              <a:t>  &lt;mapping class='</a:t>
            </a:r>
            <a:r>
              <a:rPr sz="2800" dirty="0" err="1"/>
              <a:t>com.example.model.Etudiant</a:t>
            </a:r>
            <a:r>
              <a:rPr sz="2800" dirty="0"/>
              <a:t>'/&gt;</a:t>
            </a:r>
            <a:br>
              <a:rPr sz="2800" dirty="0"/>
            </a:br>
            <a:r>
              <a:rPr sz="2800" dirty="0"/>
              <a:t> &lt;/session-factory&gt;</a:t>
            </a:r>
            <a:br>
              <a:rPr sz="2800" dirty="0"/>
            </a:br>
            <a:r>
              <a:rPr sz="2800" dirty="0"/>
              <a:t>&lt;/hibernate-configuration&gt;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073" y="194825"/>
            <a:ext cx="13968341" cy="981900"/>
          </a:xfrm>
        </p:spPr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rPr dirty="0"/>
              <a:t>Configuration du </a:t>
            </a:r>
            <a:r>
              <a:rPr dirty="0" err="1"/>
              <a:t>fichier</a:t>
            </a:r>
            <a:r>
              <a:rPr dirty="0"/>
              <a:t> hibernate.cfg.xml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1590" y="2213934"/>
            <a:ext cx="7529186" cy="5871882"/>
          </a:xfrm>
        </p:spPr>
        <p:txBody>
          <a:bodyPr>
            <a:normAutofit/>
          </a:bodyPr>
          <a:lstStyle/>
          <a:p>
            <a:pPr>
              <a:defRPr sz="3600">
                <a:latin typeface="Calibri"/>
              </a:defRPr>
            </a:pPr>
            <a:r>
              <a:rPr sz="2400" dirty="0" err="1"/>
              <a:t>Exemple</a:t>
            </a:r>
            <a:r>
              <a:rPr sz="2400" dirty="0"/>
              <a:t> </a:t>
            </a:r>
            <a:r>
              <a:rPr sz="2400" dirty="0" err="1"/>
              <a:t>d’entité</a:t>
            </a:r>
            <a:r>
              <a:rPr sz="2400" dirty="0"/>
              <a:t> :</a:t>
            </a:r>
          </a:p>
          <a:p>
            <a:pPr>
              <a:defRPr sz="3600">
                <a:latin typeface="Calibri"/>
              </a:defRPr>
            </a:pPr>
            <a:r>
              <a:rPr sz="2400" dirty="0"/>
              <a:t>@Entity</a:t>
            </a:r>
            <a:br>
              <a:rPr sz="2400" dirty="0"/>
            </a:br>
            <a:r>
              <a:rPr sz="2400" dirty="0"/>
              <a:t>@Table(name='etudiant')</a:t>
            </a:r>
            <a:br>
              <a:rPr sz="2400" dirty="0"/>
            </a:br>
            <a:r>
              <a:rPr sz="2400" dirty="0"/>
              <a:t>public class </a:t>
            </a:r>
            <a:r>
              <a:rPr sz="2400" dirty="0" err="1"/>
              <a:t>Etudiant</a:t>
            </a:r>
            <a:r>
              <a:rPr sz="2400" dirty="0"/>
              <a:t> {</a:t>
            </a:r>
            <a:br>
              <a:rPr sz="2400" dirty="0"/>
            </a:br>
            <a:r>
              <a:rPr sz="2400" dirty="0"/>
              <a:t> @Id</a:t>
            </a:r>
            <a:br>
              <a:rPr sz="2400" dirty="0"/>
            </a:br>
            <a:r>
              <a:rPr sz="2400" dirty="0"/>
              <a:t> @GeneratedValue(strategy=GenerationType.IDENTITY)</a:t>
            </a:r>
            <a:br>
              <a:rPr sz="2400" dirty="0"/>
            </a:br>
            <a:r>
              <a:rPr sz="2400" dirty="0"/>
              <a:t> private Long id;</a:t>
            </a:r>
            <a:br>
              <a:rPr sz="2400" dirty="0"/>
            </a:br>
            <a:r>
              <a:rPr sz="2400" dirty="0"/>
              <a:t> private String nom;</a:t>
            </a:r>
            <a:br>
              <a:rPr sz="2400" dirty="0"/>
            </a:br>
            <a:r>
              <a:rPr sz="2400" dirty="0"/>
              <a:t> private String </a:t>
            </a:r>
            <a:r>
              <a:rPr sz="2400" dirty="0" err="1"/>
              <a:t>prenom</a:t>
            </a:r>
            <a:r>
              <a:rPr sz="2400" dirty="0"/>
              <a:t>;</a:t>
            </a:r>
            <a:br>
              <a:rPr sz="2400" dirty="0"/>
            </a:br>
            <a:r>
              <a:rPr sz="2400" dirty="0"/>
              <a:t>}</a:t>
            </a:r>
          </a:p>
          <a:p>
            <a:pPr>
              <a:defRPr sz="3600">
                <a:latin typeface="Calibri"/>
              </a:defRPr>
            </a:pPr>
            <a:r>
              <a:rPr sz="2400" dirty="0" err="1"/>
              <a:t>Chaque</a:t>
            </a:r>
            <a:r>
              <a:rPr sz="2400" dirty="0"/>
              <a:t> </a:t>
            </a:r>
            <a:r>
              <a:rPr sz="2400" dirty="0" err="1"/>
              <a:t>classe</a:t>
            </a:r>
            <a:r>
              <a:rPr sz="2400" dirty="0"/>
              <a:t> correspond à </a:t>
            </a:r>
            <a:r>
              <a:rPr sz="2400" dirty="0" err="1"/>
              <a:t>une</a:t>
            </a:r>
            <a:r>
              <a:rPr sz="2400" dirty="0"/>
              <a:t> table et </a:t>
            </a:r>
            <a:r>
              <a:rPr sz="2400" dirty="0" err="1"/>
              <a:t>chaque</a:t>
            </a:r>
            <a:r>
              <a:rPr sz="2400" dirty="0"/>
              <a:t> champ à </a:t>
            </a:r>
            <a:r>
              <a:rPr sz="2400" dirty="0" err="1"/>
              <a:t>une</a:t>
            </a:r>
            <a:r>
              <a:rPr sz="2400" dirty="0"/>
              <a:t> </a:t>
            </a:r>
            <a:r>
              <a:rPr sz="2400" dirty="0" err="1"/>
              <a:t>colonne</a:t>
            </a:r>
            <a:r>
              <a:rPr sz="2400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54709" y="685800"/>
            <a:ext cx="5646067" cy="1465542"/>
          </a:xfrm>
        </p:spPr>
        <p:txBody>
          <a:bodyPr>
            <a:normAutofit fontScale="90000"/>
          </a:bodyPr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rPr dirty="0" err="1"/>
              <a:t>Création</a:t>
            </a:r>
            <a:r>
              <a:rPr dirty="0"/>
              <a:t> de </a:t>
            </a:r>
            <a:r>
              <a:rPr dirty="0" err="1"/>
              <a:t>l’entité</a:t>
            </a:r>
            <a:r>
              <a:rPr dirty="0"/>
              <a:t> Java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Alternative à XML :</a:t>
            </a:r>
          </a:p>
          <a:p>
            <a:pPr>
              <a:defRPr sz="3600">
                <a:latin typeface="Calibri"/>
              </a:defRPr>
            </a:pPr>
            <a:r>
              <a:t>Utiliser @Entity, @Table, @Column, @Id, @GeneratedValue, etc.</a:t>
            </a:r>
          </a:p>
          <a:p>
            <a:pPr>
              <a:defRPr sz="3600">
                <a:latin typeface="Calibri"/>
              </a:defRPr>
            </a:pPr>
            <a:r>
              <a:t>Les annotations simplifient la maintenance et favorisent la cohérence du code.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Configuration via annotations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SessionFactory : créée une seule fois, gère les connexions.</a:t>
            </a:r>
          </a:p>
          <a:p>
            <a:pPr>
              <a:defRPr sz="3600">
                <a:latin typeface="Calibri"/>
              </a:defRPr>
            </a:pPr>
            <a:r>
              <a:t>Session : représente une unité de travail, utilisée pour les opérations CRUD.</a:t>
            </a:r>
          </a:p>
          <a:p>
            <a:pPr>
              <a:defRPr sz="3600">
                <a:latin typeface="Calibri"/>
              </a:defRPr>
            </a:pPr>
            <a:r>
              <a:t>Transaction : garantit la cohérence des modifications.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SessionFactory et Session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Create : session.save(objet);</a:t>
            </a:r>
          </a:p>
          <a:p>
            <a:pPr>
              <a:defRPr sz="3600">
                <a:latin typeface="Calibri"/>
              </a:defRPr>
            </a:pPr>
            <a:r>
              <a:t>Read : session.get(Classe.class, id);</a:t>
            </a:r>
          </a:p>
          <a:p>
            <a:pPr>
              <a:defRPr sz="3600">
                <a:latin typeface="Calibri"/>
              </a:defRPr>
            </a:pPr>
            <a:r>
              <a:t>Update : session.update(objet);</a:t>
            </a:r>
          </a:p>
          <a:p>
            <a:pPr>
              <a:defRPr sz="3600">
                <a:latin typeface="Calibri"/>
              </a:defRPr>
            </a:pPr>
            <a:r>
              <a:t>Delete : session.delete(objet);</a:t>
            </a:r>
          </a:p>
          <a:p>
            <a:pPr>
              <a:defRPr sz="3600">
                <a:latin typeface="Calibri"/>
              </a:defRPr>
            </a:pPr>
            <a:r>
              <a:t>Toujours encadrer par une transaction.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Opérations CRUD avec Hibernate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Syntaxe proche du SQL, mais orientée objet.</a:t>
            </a:r>
          </a:p>
          <a:p>
            <a:pPr>
              <a:defRPr sz="3600">
                <a:latin typeface="Calibri"/>
              </a:defRPr>
            </a:pPr>
            <a:r>
              <a:t>Exemple : from Etudiant where nom = 'Dupont'</a:t>
            </a:r>
          </a:p>
          <a:p>
            <a:pPr>
              <a:defRPr sz="3600">
                <a:latin typeface="Calibri"/>
              </a:defRPr>
            </a:pPr>
            <a:r>
              <a:t>Permet des jointures, agrégations et sous-requêtes.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Langage HQL (Hibernate Query Language)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@OneToMany, @ManyToOne, @OneToOne, @ManyToMany</a:t>
            </a:r>
          </a:p>
          <a:p>
            <a:pPr>
              <a:defRPr sz="3600">
                <a:latin typeface="Calibri"/>
              </a:defRPr>
            </a:pPr>
            <a:r>
              <a:t>Hibernate gère les clés étrangères et jointures automatiquement.</a:t>
            </a:r>
          </a:p>
          <a:p>
            <a:pPr>
              <a:defRPr sz="3600">
                <a:latin typeface="Calibri"/>
              </a:defRPr>
            </a:pPr>
            <a:r>
              <a:t>Possibilité de cascade (ex: cascade=ALL).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Gestion des relations entre entités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États : transient, persistent, detached, removed.</a:t>
            </a:r>
          </a:p>
          <a:p>
            <a:pPr>
              <a:defRPr sz="3600">
                <a:latin typeface="Calibri"/>
              </a:defRPr>
            </a:pPr>
            <a:r>
              <a:t>Les objets passent d’un état à l’autre selon les opérations réalisées.</a:t>
            </a:r>
          </a:p>
          <a:p>
            <a:pPr>
              <a:defRPr sz="3600">
                <a:latin typeface="Calibri"/>
              </a:defRPr>
            </a:pPr>
            <a:r>
              <a:t>Hibernate gère la synchronisation entre objet et base de données.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Cycle de vie d’une entité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Création d’une application de gestion d’étudiants.</a:t>
            </a:r>
          </a:p>
          <a:p>
            <a:pPr>
              <a:defRPr sz="3600">
                <a:latin typeface="Calibri"/>
              </a:defRPr>
            </a:pPr>
            <a:r>
              <a:t>Objectif : ajouter, consulter, modifier et supprimer des étudiants dans une base MySQL.</a:t>
            </a:r>
          </a:p>
          <a:p>
            <a:pPr>
              <a:defRPr sz="3600">
                <a:latin typeface="Calibri"/>
              </a:defRPr>
            </a:pPr>
            <a:r>
              <a:t>Le TP se fera étape par étape.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TP : Contexte du projet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Créer un projet Maven.</a:t>
            </a:r>
          </a:p>
          <a:p>
            <a:pPr>
              <a:defRPr sz="3600">
                <a:latin typeface="Calibri"/>
              </a:defRPr>
            </a:pPr>
            <a:r>
              <a:t>Ajouter les dépendances Hibernate et MySQL.</a:t>
            </a:r>
          </a:p>
          <a:p>
            <a:pPr>
              <a:defRPr sz="3600">
                <a:latin typeface="Calibri"/>
              </a:defRPr>
            </a:pPr>
            <a:r>
              <a:t>Configurer hibernate.cfg.xml et créer l’entité Etudiant.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TP Étape 1 : Configuration du projet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Créer une classe HibernateUtil pour initialiser la SessionFactory.</a:t>
            </a:r>
          </a:p>
          <a:p>
            <a:pPr>
              <a:defRPr sz="3600">
                <a:latin typeface="Calibri"/>
              </a:defRPr>
            </a:pPr>
            <a:r>
              <a:t>Créer un DAO EtudiantDAO avec les méthodes CRUD.</a:t>
            </a:r>
          </a:p>
          <a:p>
            <a:pPr>
              <a:defRPr sz="3600">
                <a:latin typeface="Calibri"/>
              </a:defRPr>
            </a:pPr>
            <a:r>
              <a:t>Tester les opérations dans une classe Main.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TP Étape 2 : DAO et SessionFactory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image.pn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3969" b="396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Créer une méthode pour lister tous les étudiants :</a:t>
            </a:r>
          </a:p>
          <a:p>
            <a:pPr>
              <a:defRPr sz="3600">
                <a:latin typeface="Calibri"/>
              </a:defRPr>
            </a:pPr>
            <a:r>
              <a:t>List&lt;Etudiant&gt; etudiants = session.createQuery('from Etudiant').list();</a:t>
            </a:r>
          </a:p>
          <a:p>
            <a:pPr>
              <a:defRPr sz="3600">
                <a:latin typeface="Calibri"/>
              </a:defRPr>
            </a:pPr>
            <a:r>
              <a:t>Afficher les résultats dans la console.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TP Étape 3 : Utilisation du HQL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Intégrer une interface graphique (JavaFX ou Swing).</a:t>
            </a:r>
          </a:p>
          <a:p>
            <a:pPr>
              <a:defRPr sz="3600">
                <a:latin typeface="Calibri"/>
              </a:defRPr>
            </a:pPr>
            <a:r>
              <a:t>Ajouter la validation des données.</a:t>
            </a:r>
          </a:p>
          <a:p>
            <a:pPr>
              <a:defRPr sz="3600">
                <a:latin typeface="Calibri"/>
              </a:defRPr>
            </a:pPr>
            <a:r>
              <a:t>Étendre le modèle avec des entités supplémentaires (Cours, Notes).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TP Étape 4 : Améliorations possibles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solidFill>
            <a:srgbClr val="1E88E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Hibernate simplifie la gestion des données en Java.</a:t>
            </a:r>
          </a:p>
          <a:p>
            <a:pPr>
              <a:defRPr sz="3600">
                <a:latin typeface="Calibri"/>
              </a:defRPr>
            </a:pPr>
            <a:r>
              <a:t>Réduit le couplage avec la base de données.</a:t>
            </a:r>
          </a:p>
          <a:p>
            <a:pPr>
              <a:defRPr sz="3600">
                <a:latin typeface="Calibri"/>
              </a:defRPr>
            </a:pPr>
            <a:r>
              <a:t>Facilite la maintenance et l’évolution des projets.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1E88E5"/>
                </a:solidFill>
                <a:latin typeface="Calibr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mart Slides v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00EA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1064</Words>
  <Application>Microsoft Office PowerPoint</Application>
  <PresentationFormat>Personnalisé</PresentationFormat>
  <Paragraphs>95</Paragraphs>
  <Slides>26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3" baseType="lpstr">
      <vt:lpstr>Arial</vt:lpstr>
      <vt:lpstr>Roboto Light</vt:lpstr>
      <vt:lpstr>Raleway</vt:lpstr>
      <vt:lpstr>Arial</vt:lpstr>
      <vt:lpstr>Calibri</vt:lpstr>
      <vt:lpstr>Smart Slides v1</vt:lpstr>
      <vt:lpstr>think-cell Slide</vt:lpstr>
      <vt:lpstr>Java Avancé</vt:lpstr>
      <vt:lpstr>Introduction à Hibernate</vt:lpstr>
      <vt:lpstr>Présentation PowerPoint</vt:lpstr>
      <vt:lpstr>Architecture Global</vt:lpstr>
      <vt:lpstr>DAO</vt:lpstr>
      <vt:lpstr>Mapping +++++</vt:lpstr>
      <vt:lpstr>Principe de la Gestion des dépendances (Rappel Maven)</vt:lpstr>
      <vt:lpstr>Objectifs de la présentation</vt:lpstr>
      <vt:lpstr>Pourquoi utiliser Hibernate ?</vt:lpstr>
      <vt:lpstr>Architecture de Hibernate</vt:lpstr>
      <vt:lpstr>Comparaison JDBC vs Hibernate</vt:lpstr>
      <vt:lpstr>Installation et dépendances Maven</vt:lpstr>
      <vt:lpstr>Configuration du fichier hibernate.cfg.xml</vt:lpstr>
      <vt:lpstr>Création de l’entité Java</vt:lpstr>
      <vt:lpstr>Configuration via annotations</vt:lpstr>
      <vt:lpstr>SessionFactory et Session</vt:lpstr>
      <vt:lpstr>Opérations CRUD avec Hibernate</vt:lpstr>
      <vt:lpstr>Langage HQL (Hibernate Query Language)</vt:lpstr>
      <vt:lpstr>Gestion des relations entre entités</vt:lpstr>
      <vt:lpstr>Cycle de vie d’une entité</vt:lpstr>
      <vt:lpstr>TP : Contexte du projet</vt:lpstr>
      <vt:lpstr>TP Étape 1 : Configuration du projet</vt:lpstr>
      <vt:lpstr>TP Étape 2 : DAO et SessionFactory</vt:lpstr>
      <vt:lpstr>TP Étape 3 : Utilisation du HQL</vt:lpstr>
      <vt:lpstr>TP Étape 4 : Améliorations possibles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Slides</dc:title>
  <dc:creator>A. Larhlimi</dc:creator>
  <cp:lastModifiedBy>A. Larhlimi</cp:lastModifiedBy>
  <cp:revision>66</cp:revision>
  <dcterms:modified xsi:type="dcterms:W3CDTF">2025-12-18T13:24:14Z</dcterms:modified>
</cp:coreProperties>
</file>